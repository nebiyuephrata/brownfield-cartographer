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LxfJ2Al5x5qfRjiNlI4Xe1Nij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FCE937-5B2A-40E1-8652-27B029F96035}">
  <a:tblStyle styleId="{14FCE937-5B2A-40E1-8652-27B029F960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83780cc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ce83780cc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e83780c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e83780c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83780cc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ce83780cc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e83780cc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e83780cc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e83780cc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e83780cc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e83780cc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e83780cc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6475275" y="713375"/>
            <a:ext cx="1758600" cy="91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401400" y="613325"/>
            <a:ext cx="8341200" cy="401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37025" y="2120750"/>
            <a:ext cx="81543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8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Static Analysis &amp; Code Intelligence Tools</a:t>
            </a:r>
            <a:endParaRPr b="1" sz="1700">
              <a:solidFill>
                <a:srgbClr val="1F1F1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E06666"/>
                </a:solidFill>
                <a:latin typeface="Raleway"/>
                <a:ea typeface="Raleway"/>
                <a:cs typeface="Raleway"/>
                <a:sym typeface="Raleway"/>
              </a:rPr>
              <a:t>Week 4 Technical Tutorial</a:t>
            </a:r>
            <a:endParaRPr b="0" i="1" sz="2000" u="none" cap="none" strike="noStrike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E0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0809" y="832252"/>
            <a:ext cx="1196989" cy="5143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133500" y="46279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March 10, 2026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15002" l="0" r="0" t="20000"/>
          <a:stretch/>
        </p:blipFill>
        <p:spPr>
          <a:xfrm>
            <a:off x="637025" y="912500"/>
            <a:ext cx="13335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/>
        </p:nvSpPr>
        <p:spPr>
          <a:xfrm>
            <a:off x="152325" y="405675"/>
            <a:ext cx="747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Engineering Codebase Intelligence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288950" y="1197875"/>
            <a:ext cx="87372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 Goal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Transition from "Navigation Blindness" to a clear, queryable mental model of 800,000+ lines of code.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 Philosophy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Don't memorize code; build instruments that make it legible.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 Strategy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Use production-grade static analysis and graph theory to extract structure, data lineage, and semantic purpose.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 Stack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 combination of AST parsing (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tree-sitter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), semantic inference (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jedi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), SQL transpilation (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sqlglot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), and graph analytics (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NetworkX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).</a:t>
            </a:r>
            <a:endParaRPr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68" name="Google Shape;68;p2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/>
        </p:nvSpPr>
        <p:spPr>
          <a:xfrm>
            <a:off x="152325" y="405675"/>
            <a:ext cx="70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Raleway"/>
              <a:buAutoNum type="arabicPeriod"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Tree-sitter | Structural Understanding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288950" y="1197875"/>
            <a:ext cx="87372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 &amp; Purpose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 production-grade incremental parser generator used by GitHub and VS Code.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Purpose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Provides language-agnostic structural understanding by generating an Abstract Syntax Tree (AST).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Functionality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Supports 50+ languages, including Python, SQL, and YAML.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Key Concept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Uses S-expression query syntax to find specific patterns like function signatures or import statements without relying on fragile regex.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There are currently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 100 grammars,</a:t>
            </a:r>
            <a:r>
              <a:rPr b="1"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It supports nearly every major language, including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TypeScript, JavaScript, Java, Ruby, C#, C++, Go, Rust, and even Markdown or HTML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Setup &amp; Implementation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288950" y="1071000"/>
            <a:ext cx="87372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 &amp; Usage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Install via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pip install tree-sitter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and fetch specific grammars for your target languages (Python, SQL, YAML).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Implementation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Create a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LanguageRouter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that selects the grammar based on the file extension.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Core Action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Use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tree_sitter.Query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to extract: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Module Graphs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Cross-language import and path resolution.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Public API Surface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Exported classes and functions with their signatures.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Complexity Signals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Comment-to-code ratios and structural depth.</a:t>
            </a:r>
            <a:endParaRPr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152325" y="405675"/>
            <a:ext cx="76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2. Jedi &amp; Rope | Semantic Deep Dive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288950" y="1197875"/>
            <a:ext cx="87372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 &amp; Purpose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These are two distinct libraries that are often used together because they solve different parts of the "</a:t>
            </a: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context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" problem.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They are Specialized Python static analysis libraries that move beyond syntax into semantics.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Purpose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Essential for resolving references when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tree-sitter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only provides syntax.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Functionality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Performs complex tasks like </a:t>
            </a: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Type Inference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(what kind of data is this variable?) and </a:t>
            </a: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Name Resolution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(where is this function actually defined?).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Role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Helps the Surveyor Agent understand name resolution across multiple files in a Python-heavy environment.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83780cc9_0_49"/>
          <p:cNvSpPr txBox="1"/>
          <p:nvPr/>
        </p:nvSpPr>
        <p:spPr>
          <a:xfrm>
            <a:off x="152325" y="405675"/>
            <a:ext cx="76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Jedi &amp; Rope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g3ce83780cc9_0_49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" name="Google Shape;102;g3ce83780cc9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ce83780cc9_0_49"/>
          <p:cNvSpPr txBox="1"/>
          <p:nvPr/>
        </p:nvSpPr>
        <p:spPr>
          <a:xfrm>
            <a:off x="288950" y="1197875"/>
            <a:ext cx="873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04" name="Google Shape;104;g3ce83780cc9_0_49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5" name="Google Shape;105;g3ce83780cc9_0_49"/>
          <p:cNvGraphicFramePr/>
          <p:nvPr/>
        </p:nvGraphicFramePr>
        <p:xfrm>
          <a:off x="538025" y="132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{14FCE937-5B2A-40E1-8652-27B029F96035}</a:tableStyleId>
              </a:tblPr>
              <a:tblGrid>
                <a:gridCol w="2252975"/>
                <a:gridCol w="2252975"/>
                <a:gridCol w="2252975"/>
              </a:tblGrid>
              <a:tr h="45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Feature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Jedi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Rope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Primary Purpose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Autocompletion &amp; Static Analysis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Refactoring &amp; Code Manipulation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Strengths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Excellent at "Type Inference" (knowing that </a:t>
                      </a:r>
                      <a:r>
                        <a:rPr lang="en-GB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x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 is a </a:t>
                      </a:r>
                      <a:r>
                        <a:rPr lang="en-GB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DataFrame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) and "Goto Definition."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Excellent at complex renames, extracting methods, and moving modules safely.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In this Project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You can u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se Jedi to resolve where a function is defined when Tree-sitter only gives you the name.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You can u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se Rope to trace how a specific variable (like a database connection) is passed through different files.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83780cc9_0_2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Setup &amp; Implementation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g3ce83780cc9_0_2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2" name="Google Shape;112;g3ce83780cc9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ce83780cc9_0_2"/>
          <p:cNvSpPr txBox="1"/>
          <p:nvPr/>
        </p:nvSpPr>
        <p:spPr>
          <a:xfrm>
            <a:off x="288950" y="1071000"/>
            <a:ext cx="87372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 &amp; Usage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Standard pip installation: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pip install jedi rope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Usage in Cartography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 Lookup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When an agent encounters an imported function,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jedi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finds the exact source file and line number.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Refactoring Logic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rope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can be used to trace how variables are renamed or passed through data pipelines.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Mastery Tip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Use these tools to bridge "Dependency Opacity"—answering what consumes a specific dataset by tracing its variable path.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3000"/>
              </a:spcAft>
              <a:buNone/>
            </a:pPr>
            <a:r>
              <a:t/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14" name="Google Shape;114;g3ce83780cc9_0_2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3. Sqlglot | The lineage Architect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288950" y="1252100"/>
            <a:ext cx="87372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 &amp; Purpose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 high-performance SQL parser, transpiler, and optimizer supporting 20+ dialects (BigQuery, Snowflake, etc.).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Purpose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To parse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SELECT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FROM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JOIN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, and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CTE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chains to build a deterministic data lineage graph.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Functionality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Extracts table dependencies from raw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.sql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files, dbt models, and Spark SQL jobs.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Critical Skill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Moving beyond "text search" to understand the actual flow of data through transformation logic.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e83780cc9_0_10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Setup &amp; Implementation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g3ce83780cc9_0_10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0" name="Google Shape;130;g3ce83780cc9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ce83780cc9_0_10"/>
          <p:cNvSpPr txBox="1"/>
          <p:nvPr/>
        </p:nvSpPr>
        <p:spPr>
          <a:xfrm>
            <a:off x="288950" y="1071000"/>
            <a:ext cx="87372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 &amp; Usage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pip install sqlglot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The Hydrologist’s Workflow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Parse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Convert SQL strings into a SQL AST using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sqlglot.parse_one()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Extract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Traverse the AST to find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Table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nodes and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Alias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nodes.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Lineage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Map these nodes to a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DataLineageGraph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(NetworkX) where nodes are datasets and edges are transformations.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Requirement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Support dbt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ref()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systems and schema-dependent queries as first-class inputs.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32" name="Google Shape;132;g3ce83780cc9_0_10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e83780cc9_0_18"/>
          <p:cNvSpPr txBox="1"/>
          <p:nvPr/>
        </p:nvSpPr>
        <p:spPr>
          <a:xfrm>
            <a:off x="152325" y="405675"/>
            <a:ext cx="75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4. NetworkX | The central Intelligence Map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g3ce83780cc9_0_18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g3ce83780cc9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ce83780cc9_0_18"/>
          <p:cNvSpPr txBox="1"/>
          <p:nvPr/>
        </p:nvSpPr>
        <p:spPr>
          <a:xfrm>
            <a:off x="288950" y="1252100"/>
            <a:ext cx="8737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 &amp; Purpose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Definition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 Python library for the creation and study of complex networks and graphs.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Purpose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Acts as the central data store for the Knowledge Graph, representing code and data relationships.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Functionality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Powers architectural and lineage analysis through graph algorithms.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Key Algorithms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PageRank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Identifies critical "architectural hubs" or high-impact data nodes.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Topological Sort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Determines the correct execution order of a pipeline.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Strongly Connected Components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Detects circular dependencies (technical debt).</a:t>
            </a:r>
            <a:endParaRPr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41" name="Google Shape;141;g3ce83780cc9_0_18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83780cc9_0_26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Setup &amp; Implementation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g3ce83780cc9_0_26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8" name="Google Shape;148;g3ce83780cc9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e83780cc9_0_26"/>
          <p:cNvSpPr txBox="1"/>
          <p:nvPr/>
        </p:nvSpPr>
        <p:spPr>
          <a:xfrm>
            <a:off x="288950" y="1071000"/>
            <a:ext cx="87372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 &amp; Usage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Installation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pip install networkx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95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Data Schema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All agents populate a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DiGraph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(Directed Graph) using Pydantic models for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ModuleNodes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and </a:t>
            </a:r>
            <a:r>
              <a:rPr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DatasetNodes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●"/>
            </a:pP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Tool Implementation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blast_radius(module)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Uses BFS/DFS to find all downstream nodes affected by a change.</a:t>
            </a:r>
            <a:endParaRPr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52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○"/>
            </a:pPr>
            <a:r>
              <a:rPr b="1"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find_sources()</a:t>
            </a:r>
            <a:r>
              <a:rPr b="1"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/ </a:t>
            </a:r>
            <a:r>
              <a:rPr b="1" lang="en-GB" sz="1100">
                <a:solidFill>
                  <a:srgbClr val="434343"/>
                </a:solidFill>
                <a:highlight>
                  <a:srgbClr val="E9EEF6"/>
                </a:highlight>
                <a:latin typeface="Raleway"/>
                <a:ea typeface="Raleway"/>
                <a:cs typeface="Raleway"/>
                <a:sym typeface="Raleway"/>
              </a:rPr>
              <a:t>find_sinks()</a:t>
            </a:r>
            <a:r>
              <a:rPr lang="en-GB" sz="11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: Identifies entry points (in-degree=0) and exit points (out-degree=0) of the data system.</a:t>
            </a:r>
            <a:endParaRPr b="1" sz="11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0" name="Google Shape;150;g3ce83780cc9_0_26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e83780cc9_0_58"/>
          <p:cNvSpPr txBox="1"/>
          <p:nvPr/>
        </p:nvSpPr>
        <p:spPr>
          <a:xfrm>
            <a:off x="152325" y="405675"/>
            <a:ext cx="64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24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Visualization Methods</a:t>
            </a:r>
            <a:endParaRPr b="1" i="0" sz="24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g3ce83780cc9_0_58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7" name="Google Shape;157;g3ce83780cc9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ce83780cc9_0_58"/>
          <p:cNvSpPr txBox="1"/>
          <p:nvPr/>
        </p:nvSpPr>
        <p:spPr>
          <a:xfrm>
            <a:off x="288950" y="1071000"/>
            <a:ext cx="87372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Pyvis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— Python library for quickly generating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interactive network graphs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 the browser from NetworkX data.</a:t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Cytoscape / Dash Cytoscape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— Powerful platform for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large, complex networks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with advanced layouts (e.g., Cose, Breadthfirst) that keep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1k+ node graphs readable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Gephi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— Desktop tool for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very large graphs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; import </a:t>
            </a:r>
            <a:r>
              <a:rPr lang="en-GB" sz="11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.gexf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files and use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Force Atlas 2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to untangle dense “hairball” networks.</a:t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Graphviz (DOT)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— Best for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static, publication-quality diagrams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especially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hierarchical/data lineage graphs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using Sugiyama-style layouts.</a:t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Cosmograph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—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GPU-accelerated web visualizer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 exploring </a:t>
            </a:r>
            <a:r>
              <a:rPr b="1"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massive graphs interactively (even in 3D)</a:t>
            </a:r>
            <a:r>
              <a:rPr lang="en-GB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30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9" name="Google Shape;159;g3ce83780cc9_0_58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/>
        </p:nvSpPr>
        <p:spPr>
          <a:xfrm>
            <a:off x="152325" y="405675"/>
            <a:ext cx="6454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en-GB" sz="31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Q &amp; A</a:t>
            </a:r>
            <a:endParaRPr b="1" i="0" sz="31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937375" y="3269100"/>
            <a:ext cx="9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075" y="119900"/>
            <a:ext cx="1211075" cy="5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288950" y="1349750"/>
            <a:ext cx="873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1329575" y="1067475"/>
            <a:ext cx="4249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6475275" y="713375"/>
            <a:ext cx="1758600" cy="91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01400" y="613325"/>
            <a:ext cx="8341200" cy="401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637025" y="713375"/>
            <a:ext cx="81543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200" u="none" cap="none" strike="noStrike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b="1" i="0" sz="2200" u="none" cap="none" strike="noStrike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